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B5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34"/>
    <p:restoredTop sz="94610"/>
  </p:normalViewPr>
  <p:slideViewPr>
    <p:cSldViewPr snapToGrid="0" snapToObjects="1">
      <p:cViewPr>
        <p:scale>
          <a:sx n="136" d="100"/>
          <a:sy n="136" d="100"/>
        </p:scale>
        <p:origin x="144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295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0" y="1737360"/>
            <a:ext cx="9144000" cy="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0" y="5212080"/>
            <a:ext cx="9144000" cy="0"/>
          </a:xfrm>
          <a:prstGeom prst="line">
            <a:avLst/>
          </a:prstGeom>
          <a:noFill/>
          <a:ln w="635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5B5EA6">
              <a:alpha val="20000"/>
            </a:srgbClr>
          </a:solidFill>
          <a:ln w="12700">
            <a:solidFill>
              <a:srgbClr val="5B5E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2EC4C4">
              <a:alpha val="15000"/>
            </a:srgbClr>
          </a:solidFill>
          <a:ln w="12700">
            <a:solidFill>
              <a:srgbClr val="2EC4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D3B5BB"/>
                </a:solidFill>
              </a:rPr>
              <a:t>Team Sigma</a:t>
            </a:r>
            <a:endParaRPr lang="en-US" sz="1300" dirty="0">
              <a:solidFill>
                <a:srgbClr val="D3B5BB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SCM 운영 지능화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548640" y="2331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C4C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플랫폼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</a:rPr>
              <a:t>수요 예측 및 확률론적 재고 최적화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482803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AI × 수리최적화 × 엔터프라이즈 아키텍처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D51A2B-420B-5AF2-434A-3AA0CCC2CDD2}"/>
              </a:ext>
            </a:extLst>
          </p:cNvPr>
          <p:cNvSpPr txBox="1"/>
          <p:nvPr/>
        </p:nvSpPr>
        <p:spPr>
          <a:xfrm>
            <a:off x="887065" y="1178571"/>
            <a:ext cx="19965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D3B5BB"/>
                </a:solidFill>
              </a:rPr>
              <a:t>이진석</a:t>
            </a:r>
            <a:r>
              <a:rPr lang="en-US" altLang="ko-KR" sz="1000" dirty="0">
                <a:solidFill>
                  <a:srgbClr val="D3B5BB"/>
                </a:solidFill>
              </a:rPr>
              <a:t>,</a:t>
            </a:r>
            <a:r>
              <a:rPr lang="ko-KR" altLang="en-US" sz="1000" dirty="0">
                <a:solidFill>
                  <a:srgbClr val="D3B5BB"/>
                </a:solidFill>
              </a:rPr>
              <a:t> 박정우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438912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B8DC4"/>
                </a:solidFill>
              </a:rPr>
              <a:t>AS-IS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현재의 한계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56032" cy="256032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엑셀 수기 취합으로 인한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데이터 병목 및 휴먼 에러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41448"/>
            <a:ext cx="256032" cy="256032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담당자 직관에 의존하는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부정확한 발주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82696"/>
            <a:ext cx="256032" cy="256032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323697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부서별 데이터 단절로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과잉 안전재고 축적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123944"/>
            <a:ext cx="256032" cy="256032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407822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블랙스완 대응 불가 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AI 환각 리스크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0F0F8"/>
          </a:solidFill>
          <a:ln w="12700">
            <a:solidFill>
              <a:srgbClr val="F0F0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389120" y="0"/>
            <a:ext cx="4754880" cy="7315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3200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B5EA6"/>
                </a:solidFill>
              </a:rPr>
              <a:t>TO-BE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7772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</a:rPr>
              <a:t>지능화 플랫폼 도입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663440" y="1664208"/>
            <a:ext cx="54864" cy="73152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664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Zero-Click 자동화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65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AI가 비정형 문서 스키마 자동 매핑, 담당자 개입 없는 파이프라인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54864" cy="73152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4632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수리 모델 기반 의사결정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0449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TFT + 음이항 분포로 수요 변동성 정량화, 확률론적 최적화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22192"/>
            <a:ext cx="54864" cy="73152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46320" y="38221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통합 워크플로우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4123944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기업의 지능형 뇌(Brain) 구축, 내외부 데이터 포괄 통합 방어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24528" y="2176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가치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</a:rPr>
              <a:t>데이터 융합 및 다차원 리스크 방어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743200" cy="338328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743200" cy="6400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5EA6"/>
                </a:solidFill>
              </a:rPr>
              <a:t>내부 데이터 자동화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2148840"/>
            <a:ext cx="118872" cy="11887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4672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Zero-Click Silent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788920"/>
            <a:ext cx="118872" cy="11887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04672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다중 시트 엑셀 스키마 자동 분석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3429000"/>
            <a:ext cx="118872" cy="11887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04672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비정형 문서 구조화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" y="4069080"/>
            <a:ext cx="118872" cy="11887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04672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담당자 개입 없는 파이프라인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55848" y="1417320"/>
            <a:ext cx="2743200" cy="338328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355848" y="1417320"/>
            <a:ext cx="2743200" cy="64008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93008" y="15361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C4"/>
                </a:solidFill>
              </a:rPr>
              <a:t>외부 실시간 데이터 융합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2148840"/>
            <a:ext cx="118872" cy="118872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0332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API 연동: GDELT, KMA,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Spire, FRED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2788920"/>
            <a:ext cx="118872" cy="118872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703320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LogisticsRiskScorer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429000"/>
            <a:ext cx="118872" cy="118872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703320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외부 변수 통합 리스크 스코어링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0440" y="4069080"/>
            <a:ext cx="118872" cy="118872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70332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실시간 공급망 위험 감지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54496" y="1417320"/>
            <a:ext cx="2743200" cy="338328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254496" y="1417320"/>
            <a:ext cx="2743200" cy="640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391656" y="15361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통합 가치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19088" y="2148840"/>
            <a:ext cx="118872" cy="1188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601968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내외부 데이터 포괄 통합 방어체계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19088" y="2788920"/>
            <a:ext cx="118872" cy="1188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601968" y="2743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블랙스완 사전 감지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19088" y="3429000"/>
            <a:ext cx="118872" cy="1188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601968" y="3383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태풍, 항만 적체 등 즉각 대응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19088" y="4069080"/>
            <a:ext cx="118872" cy="1188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601968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95% 서비스 수준 유지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8B8DC4"/>
                </a:solidFill>
              </a:rPr>
              <a:t>수요 예측 엔진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이상 스파이크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제어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468880"/>
            <a:ext cx="502920" cy="4114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TFT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4871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Temporal Fusion Transformer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291840"/>
            <a:ext cx="502920" cy="41148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0F8"/>
                </a:solidFill>
              </a:rPr>
              <a:t>음이항 분포 모델링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111D36"/>
          </a:solidFill>
          <a:ln w="12700">
            <a:solidFill>
              <a:srgbClr val="111D3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80560" y="3657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8DC4"/>
                </a:solidFill>
              </a:rPr>
              <a:t>시계열 딥러닝 기반 수요 예측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886968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8503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10%, 50%, 90% 분위수 예측으로 공급망 리스크 방어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1325880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12893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음이항 분포로 수요 변동성 및 불확실성 정량화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764792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17282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이상 스파이크 자동 감지 및 제어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194560"/>
            <a:ext cx="4297680" cy="0"/>
          </a:xfrm>
          <a:prstGeom prst="line">
            <a:avLst/>
          </a:prstGeom>
          <a:noFill/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480560" y="2331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비용 최소화 목적 함수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2788920"/>
            <a:ext cx="4297680" cy="1005840"/>
          </a:xfrm>
          <a:prstGeom prst="rect">
            <a:avLst/>
          </a:prstGeom>
          <a:solidFill>
            <a:srgbClr val="0D1B33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17720" y="28346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8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 TC(Q) =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28712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C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재고유지비 + 주문비 + 품절패널티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80560" y="3931920"/>
            <a:ext cx="4297680" cy="457200"/>
          </a:xfrm>
          <a:prstGeom prst="rect">
            <a:avLst/>
          </a:prstGeom>
          <a:solidFill>
            <a:srgbClr val="5B5EA6">
              <a:alpha val="30000"/>
            </a:srgbClr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480560" y="39319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서비스 수준 95% 제약 조건 하 최적 발주량 산출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04</a:t>
            </a:r>
            <a:endParaRPr lang="en-US" sz="11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8F26E4D5-284F-93CA-903C-13BF9AB21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127248"/>
            <a:ext cx="2560319" cy="6244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핵심 가치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</a:rPr>
              <a:t>통제 가능한 AI (XAI)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0" cy="333756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743200" cy="50292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6928" y="1490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1단계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267712"/>
            <a:ext cx="118872" cy="11887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212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MOQ 제약 및 천장 함수 적용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118872" cy="11887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96265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Q_final = max(MOQ, ⌈Net_Q/Lot⌉×Lot)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767328"/>
            <a:ext cx="118872" cy="118872"/>
          </a:xfrm>
          <a:prstGeom prst="ellipse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371246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AI 환각 원천 차단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55848" y="1463040"/>
            <a:ext cx="2743200" cy="333756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355848" y="1463040"/>
            <a:ext cx="2743200" cy="50292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65576" y="1490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2단계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73652" y="154076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LLM Diagnoser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493008" y="2267712"/>
            <a:ext cx="118872" cy="118872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75888" y="2212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위험 상황 자연어 알림 생성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93008" y="3017520"/>
            <a:ext cx="118872" cy="118872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75888" y="296265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"항만 적체로 조달 3.5일 지연 예상, 안전재고 15% 상향 권장"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93008" y="3767328"/>
            <a:ext cx="118872" cy="118872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75888" y="371246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Gemini 기반 비즈니스 리스크 추론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1463040"/>
            <a:ext cx="2743200" cy="333756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254496" y="1463040"/>
            <a:ext cx="27432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364224" y="14904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3단계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18219" y="1540764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하이브리드 승인 분기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391656" y="2267712"/>
            <a:ext cx="118872" cy="1188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574536" y="2212848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일상 발주 → AUTO_APPROVED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91656" y="3017520"/>
            <a:ext cx="118872" cy="1188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574536" y="2962656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위험 발주 → PENDING (상세 사유 제공)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91656" y="3767328"/>
            <a:ext cx="118872" cy="118872"/>
          </a:xfrm>
          <a:prstGeom prst="ellips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574536" y="3712464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담당자 반려 사유 자가 학습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499616" y="297180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8481" y="15499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대수적 수리 필터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44"/>
                </a:solidFill>
              </a:rPr>
              <a:t>기술 아키텍처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확장성과 안정성 보장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204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Transaction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8DC4"/>
                </a:solidFill>
              </a:rPr>
              <a:t>Java Spring Boot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109728" cy="109728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49808" y="2130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엔터프라이즈 데이터 파이프라인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09728" cy="109728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25694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Spring Security + JWT + RBAC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109728" cy="109728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49808" y="3008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PostgreSQL: 단일 진실 공급원 (SSOT)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93008"/>
            <a:ext cx="109728" cy="109728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9808" y="34472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Flyway DB 버전 관리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109728" cy="109728"/>
          </a:xfrm>
          <a:prstGeom prst="ellipse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49808" y="3886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배치 상태 관리 (트랜잭션 롤백)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43000"/>
            <a:ext cx="4023360" cy="3520440"/>
          </a:xfrm>
          <a:prstGeom prst="rect">
            <a:avLst/>
          </a:prstGeom>
          <a:solidFill>
            <a:srgbClr val="111D36"/>
          </a:solidFill>
          <a:ln w="12700">
            <a:solidFill>
              <a:srgbClr val="111D36"/>
            </a:solidFill>
            <a:prstDash val="solid"/>
          </a:ln>
          <a:effectLst>
            <a:outerShdw blurRad="1524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Inference &amp; Agent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C4"/>
                </a:solidFill>
              </a:rPr>
              <a:t>Python FastAPI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2176272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138928" y="213055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TFT 딥러닝 수요 예측 엔진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615184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138928" y="256946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Multi-Agent 발주 시스템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054096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138928" y="3008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Gemini LLM 리스크 판단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493008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138928" y="34472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SQLite: 격리된 로컬 엣지 연산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931920"/>
            <a:ext cx="109728" cy="109728"/>
          </a:xfrm>
          <a:prstGeom prst="ellipse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38928" y="3886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8"/>
                </a:solidFill>
              </a:rPr>
              <a:t>Scipy/Numpy 수치 최적화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8848" y="2342367"/>
            <a:ext cx="297329" cy="99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330248" y="22124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5EA6"/>
                </a:solidFill>
              </a:rPr>
              <a:t>⟷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303943" y="24182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5EA6"/>
                </a:solidFill>
              </a:rPr>
              <a:t>Cost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B5EA6"/>
                </a:solidFill>
              </a:rPr>
              <a:t>Opt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프로토타입 구현도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8DC4"/>
                </a:solidFill>
              </a:rPr>
              <a:t>E2E 프로세스 플로우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3533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다중 시트 엑셀 무인 자동 적재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801368"/>
            <a:ext cx="0" cy="192024"/>
          </a:xfrm>
          <a:prstGeom prst="line">
            <a:avLst/>
          </a:prstGeom>
          <a:noFill/>
          <a:ln w="1905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391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가상 태풍 주입 → 외부 API 리스크 스코어 급상승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487168"/>
            <a:ext cx="0" cy="192024"/>
          </a:xfrm>
          <a:prstGeom prst="line">
            <a:avLst/>
          </a:prstGeom>
          <a:noFill/>
          <a:ln w="1905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solidFill>
            <a:srgbClr val="8B8DC4"/>
          </a:solidFill>
          <a:ln w="1270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7249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딥러닝 예측 변동 → 수리 필터로 강제 제어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172968"/>
            <a:ext cx="0" cy="192024"/>
          </a:xfrm>
          <a:prstGeom prst="line">
            <a:avLst/>
          </a:prstGeom>
          <a:noFill/>
          <a:ln w="19050">
            <a:solidFill>
              <a:srgbClr val="8B8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4107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예산 초과 감지 시 PENDING 강제 전환 + LLM 위험 진단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188720"/>
            <a:ext cx="2926080" cy="3566160"/>
          </a:xfrm>
          <a:prstGeom prst="rect">
            <a:avLst/>
          </a:prstGeom>
          <a:solidFill>
            <a:srgbClr val="111D3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943600" y="1188720"/>
            <a:ext cx="2926080" cy="4114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035040" y="12161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엔터프라이즈급 검증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4C4"/>
                </a:solidFill>
              </a:rPr>
              <a:t>299개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035040" y="22677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통합 테스트 스위트 통과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770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4C4"/>
                </a:solidFill>
              </a:rPr>
              <a:t>84.5%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35040" y="32552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코드 커버리지 달성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7581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4C4"/>
                </a:solidFill>
              </a:rPr>
              <a:t>100%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035040" y="42428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멱등성 보장 (서킷 브레이커)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44"/>
                </a:solidFill>
              </a:rPr>
              <a:t>비즈니스 임팩트 및 확장성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20116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20%↑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재고 보유 비용 감축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서비스 수준 95% 유지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914400"/>
            <a:ext cx="2743200" cy="201168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55848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355848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품절 빈도 통제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효과적 재고 관리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914400"/>
            <a:ext cx="2743200" cy="20116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54496" y="10058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74%↓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254496" y="1920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비용 절감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54496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수학적 가드레일 필터링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</a:rPr>
              <a:t>확장성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2743200" cy="11887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60729" y="3644135"/>
            <a:ext cx="2532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 B2B SaaS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8660" y="3794862"/>
            <a:ext cx="24185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SCM 클라우드 SaaS 모델 전환 가능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55848" y="3611880"/>
            <a:ext cx="2743200" cy="11887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007358" y="36768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</a:rPr>
              <a:t>중소·중견</a:t>
            </a:r>
            <a:r>
              <a:rPr lang="en-US" sz="1400" dirty="0">
                <a:solidFill>
                  <a:srgbClr val="000000"/>
                </a:solidFill>
              </a:rPr>
              <a:t> 기업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63874" y="3823500"/>
            <a:ext cx="23105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낮은 진입 장벽으로 즉각 도입 가능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54496" y="3611880"/>
            <a:ext cx="2743200" cy="1188720"/>
          </a:xfrm>
          <a:prstGeom prst="rect">
            <a:avLst/>
          </a:prstGeom>
          <a:solidFill>
            <a:srgbClr val="F7F7FC"/>
          </a:solidFill>
          <a:ln w="12700">
            <a:solidFill>
              <a:srgbClr val="E8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247638" y="3672272"/>
            <a:ext cx="2761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Multi-tenant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8235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아키텍처 확장 준비 완료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5B5EA6">
              <a:alpha val="15000"/>
            </a:srgbClr>
          </a:solidFill>
          <a:ln w="12700">
            <a:solidFill>
              <a:srgbClr val="5B5E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2EC4C4">
              <a:alpha val="12000"/>
            </a:srgbClr>
          </a:solidFill>
          <a:ln w="12700">
            <a:solidFill>
              <a:srgbClr val="2EC4C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결론 및 요약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8046720" cy="777240"/>
          </a:xfrm>
          <a:prstGeom prst="rect">
            <a:avLst/>
          </a:prstGeom>
          <a:solidFill>
            <a:srgbClr val="0D1B33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64008" cy="77724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49808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5EA6"/>
                </a:solidFill>
              </a:rPr>
              <a:t>비정형 업무 파편화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38988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엑셀 수기 + 경험 의존 의사결정 → AI 기반 자동화 + 수 리적 최적화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8046720" cy="777240"/>
          </a:xfrm>
          <a:prstGeom prst="rect">
            <a:avLst/>
          </a:prstGeom>
          <a:solidFill>
            <a:srgbClr val="0D1B33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48640" y="2084832"/>
            <a:ext cx="64008" cy="777240"/>
          </a:xfrm>
          <a:prstGeom prst="rect">
            <a:avLst/>
          </a:prstGeom>
          <a:solidFill>
            <a:srgbClr val="2EC4C4"/>
          </a:solidFill>
          <a:ln w="12700">
            <a:solidFill>
              <a:srgbClr val="2EC4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C4"/>
                </a:solidFill>
              </a:rPr>
              <a:t>기술 차별점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39572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AI 판단 위임 → 오류 및 환각 리스크 → 판단 지원 XAI + 환각 차단 수리 필터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8046720" cy="777240"/>
          </a:xfrm>
          <a:prstGeom prst="rect">
            <a:avLst/>
          </a:prstGeom>
          <a:solidFill>
            <a:srgbClr val="0D1B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808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구현 완성도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4015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개념 수준 프로토타입 → 299개 테스트 · 84.5% 커버리지 · E2E  실증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"산업 현장의 비정형 업무를 AI가 이해·표준화·자동화하여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</a:rPr>
              <a:t>생산성과 의사결정 속도를 극대화하는 운영 지능화 플랫폼"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8DC4"/>
                </a:solidFill>
              </a:rPr>
              <a:t>SCM 운영 지능화 플랫폼 | TEAM SIGMA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629</Words>
  <Application>Microsoft Macintosh PowerPoint</Application>
  <PresentationFormat>화면 슬라이드 쇼(16:9)</PresentationFormat>
  <Paragraphs>153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SCM 운영 지능화 플랫폼</dc:title>
  <dc:subject>PptxGenJS Presentation</dc:subject>
  <dc:creator>PptxGenJS</dc:creator>
  <cp:lastModifiedBy>이진석</cp:lastModifiedBy>
  <cp:revision>2</cp:revision>
  <dcterms:created xsi:type="dcterms:W3CDTF">2026-05-22T16:06:59Z</dcterms:created>
  <dcterms:modified xsi:type="dcterms:W3CDTF">2026-05-22T16:16:25Z</dcterms:modified>
</cp:coreProperties>
</file>