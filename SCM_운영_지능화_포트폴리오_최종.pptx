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5B5EA6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EC4C4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B8DC4"/>
                </a:solidFill>
              </a:rPr>
              <a:t>Team Sigma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SCM 운영 지능화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C4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플랫폼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수요 예측 및 확률론적 재고 최적화 Multi-Agent 시스템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280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× 수리최적화 × 엔터프라이즈 아키텍처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8DC4"/>
                </a:solidFill>
              </a:rPr>
              <a:t>AS-IS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운영 비효율의 임계점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56032" cy="256032"/>
          </a:xfrm>
          <a:prstGeom prst="ellipse">
            <a:avLst/>
          </a:prstGeom>
          <a:solidFill>
            <a:srgbClr val="8B8D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엑셀 수기 취합으로 인한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데이터 병목 및 휴먼 에러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41448"/>
            <a:ext cx="256032" cy="256032"/>
          </a:xfrm>
          <a:prstGeom prst="ellipse">
            <a:avLst/>
          </a:prstGeom>
          <a:solidFill>
            <a:srgbClr val="8B8DC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957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담당자 직관에 의존하는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부정확한 발주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282696"/>
            <a:ext cx="256032" cy="256032"/>
          </a:xfrm>
          <a:prstGeom prst="ellipse">
            <a:avLst/>
          </a:prstGeom>
          <a:solidFill>
            <a:srgbClr val="8B8DC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3697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부서별 데이터 단절로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과잉 안전재고 축적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123944"/>
            <a:ext cx="256032" cy="256032"/>
          </a:xfrm>
          <a:prstGeom prst="ellipse">
            <a:avLst/>
          </a:prstGeom>
          <a:solidFill>
            <a:srgbClr val="8B8DC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7822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블랙스완 대응 불가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AI 환각 리스크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0F0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0"/>
            <a:ext cx="4754880" cy="73152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20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EA6"/>
                </a:solidFill>
              </a:rPr>
              <a:t>TO-BE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777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</a:rPr>
              <a:t>자율적 운영 지능화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663440" y="1664208"/>
            <a:ext cx="54864" cy="731520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6642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Zero-Click 자동화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AI가 비정형 문서 스키마 자동 매핑, 담당자 개입 차단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54864" cy="731520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수리 모델 기반 의사결정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0449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TFT + 음이항 분포로 수요 변동성 정량화, 확률론적 최적화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22192"/>
            <a:ext cx="54864" cy="731520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822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통합 워크플로우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41239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기업의 지능형 뇌(Brain) 구축, 내외부 데이터 포괄 방어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2286000"/>
            <a:ext cx="548640" cy="73152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27" name="Text 25"/>
          <p:cNvSpPr/>
          <p:nvPr/>
        </p:nvSpPr>
        <p:spPr>
          <a:xfrm>
            <a:off x="4224528" y="2176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EA6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32004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핵심 가치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</a:rPr>
              <a:t>데이터 융합 및 정합성 검증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43200" cy="237744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743200" cy="64008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EA6"/>
                </a:solidFill>
              </a:rPr>
              <a:t>내부 데이터 자동화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1965960"/>
            <a:ext cx="91440" cy="91440"/>
          </a:xfrm>
          <a:prstGeom prst="ellipse">
            <a:avLst/>
          </a:prstGeom>
          <a:solidFill>
            <a:srgbClr val="5B5EA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Zero-Click Silent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2560320"/>
            <a:ext cx="91440" cy="91440"/>
          </a:xfrm>
          <a:prstGeom prst="ellipse">
            <a:avLst/>
          </a:prstGeom>
          <a:solidFill>
            <a:srgbClr val="5B5EA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다중 시트 엑셀 스키마 자동 분석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154680"/>
            <a:ext cx="91440" cy="91440"/>
          </a:xfrm>
          <a:prstGeom prst="ellipse">
            <a:avLst/>
          </a:prstGeom>
          <a:solidFill>
            <a:srgbClr val="5B5EA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비정형 문서 구조화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1371600"/>
            <a:ext cx="2743200" cy="237744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5848" y="1371600"/>
            <a:ext cx="2743200" cy="64008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17" name="Text 15"/>
          <p:cNvSpPr/>
          <p:nvPr/>
        </p:nvSpPr>
        <p:spPr>
          <a:xfrm>
            <a:off x="3493008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C4"/>
                </a:solidFill>
              </a:rPr>
              <a:t>외부 실시간 데이터 융합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1965960"/>
            <a:ext cx="91440" cy="91440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19" name="Text 17"/>
          <p:cNvSpPr/>
          <p:nvPr/>
        </p:nvSpPr>
        <p:spPr>
          <a:xfrm>
            <a:off x="3675888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API 연동: GDELT, KMA,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Spire, FRED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2560320"/>
            <a:ext cx="91440" cy="91440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21" name="Text 19"/>
          <p:cNvSpPr/>
          <p:nvPr/>
        </p:nvSpPr>
        <p:spPr>
          <a:xfrm>
            <a:off x="3675888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LogisticsRiskScorer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3154680"/>
            <a:ext cx="91440" cy="91440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23" name="Text 21"/>
          <p:cNvSpPr/>
          <p:nvPr/>
        </p:nvSpPr>
        <p:spPr>
          <a:xfrm>
            <a:off x="3675888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외부 변수 통합 리스크 산출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1371600"/>
            <a:ext cx="2743200" cy="237744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371600"/>
            <a:ext cx="2743200" cy="6400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6391656" y="1463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통합 방어 체계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19088" y="1965960"/>
            <a:ext cx="91440" cy="914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6574536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내외부 데이터 포괄 모니터링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19088" y="2560320"/>
            <a:ext cx="91440" cy="914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6574536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블랙스완 사전 감지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19088" y="3154680"/>
            <a:ext cx="91440" cy="914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6574536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태풍, 항만 적체 즉각 대응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549640" cy="731520"/>
          </a:xfrm>
          <a:prstGeom prst="rect">
            <a:avLst/>
          </a:prstGeom>
          <a:solidFill>
            <a:srgbClr val="111D36"/>
          </a:solidFill>
          <a:ln w="19050">
            <a:solidFill>
              <a:srgbClr val="2EC4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✔️ 데이터 정합성 검증 (Historical API Extraction)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Kaggle 발주 데이터의 타임스탬프를 기준으로 해당 시점의 과거 KMA(날씨) 및 FRED(경제) Historical 데이터를 API로 추출·융합하여 모델 학습 및 정합성을 확보했습니다.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DC4"/>
                </a:solidFill>
              </a:rPr>
              <a:t>수요 예측 엔진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수리적 모델링과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비용 최적화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502920" cy="41148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468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TFT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Temporal Fusion Transformer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502920" cy="411480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291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310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8"/>
                </a:solidFill>
              </a:rPr>
              <a:t>음이항 분포 모델링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111D3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65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DC4"/>
                </a:solidFill>
              </a:rPr>
              <a:t>비용 최소화 목적 함수 (MinimizeTotalCost)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822960"/>
            <a:ext cx="4389120" cy="731520"/>
          </a:xfrm>
          <a:prstGeom prst="rect">
            <a:avLst/>
          </a:prstGeom>
          <a:solidFill>
            <a:srgbClr val="0D1B33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Minimize TC(Q) = 재고유지비 + 주문비 + 품절패널티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188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Q_final = max(MOQ, ⌈Net_Q / Lot⌉ × Lot)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1920240"/>
            <a:ext cx="4389120" cy="2468880"/>
          </a:xfrm>
          <a:prstGeom prst="rect">
            <a:avLst/>
          </a:prstGeom>
          <a:solidFill>
            <a:srgbClr val="1A274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✔️ 시뮬레이션 베이스라인 (Baseline 명시)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비교군 (Control Group):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743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기존 발주 시스템 (6개월 단순 이동평균(MA) 및 고정 안전재고 산출 방식) 대비 당사의 TFT + 음이항 ROP 시스템 적용 결과 비교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3832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단위 비용 가정 (Kaggle M5 기준):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데이터의 실제 단가를 기준으로 재고유지비(연 20%) 및 결품 패널티(단가의 1.5배)로 통제 후 최적화 연산 수행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320040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핵심 가치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</a:rPr>
              <a:t>통제 가능한 AI (XAI)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0" cy="301752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2743200" cy="5029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490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1단계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EA6"/>
                </a:solidFill>
              </a:rPr>
              <a:t>대수적 수리 필터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267712"/>
            <a:ext cx="118872" cy="118872"/>
          </a:xfrm>
          <a:prstGeom prst="ellipse">
            <a:avLst/>
          </a:prstGeom>
          <a:solidFill>
            <a:srgbClr val="5B5EA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128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MOQ 제약 및 천장 함수 적용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017520"/>
            <a:ext cx="118872" cy="118872"/>
          </a:xfrm>
          <a:prstGeom prst="ellipse">
            <a:avLst/>
          </a:prstGeom>
          <a:solidFill>
            <a:srgbClr val="5B5EA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6265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AI 환각 대수적 원천 차단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55848" y="1463040"/>
            <a:ext cx="2743200" cy="301752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463040"/>
            <a:ext cx="2743200" cy="502920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16" name="Text 14"/>
          <p:cNvSpPr/>
          <p:nvPr/>
        </p:nvSpPr>
        <p:spPr>
          <a:xfrm>
            <a:off x="3465576" y="1490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2단계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65576" y="17373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C4"/>
                </a:solidFill>
              </a:rPr>
              <a:t>LLM Diagnoser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93008" y="2267712"/>
            <a:ext cx="118872" cy="118872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19" name="Text 17"/>
          <p:cNvSpPr/>
          <p:nvPr/>
        </p:nvSpPr>
        <p:spPr>
          <a:xfrm>
            <a:off x="3675888" y="22128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위험 상황 자연어 알림 생성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93008" y="3017520"/>
            <a:ext cx="118872" cy="118872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21" name="Text 19"/>
          <p:cNvSpPr/>
          <p:nvPr/>
        </p:nvSpPr>
        <p:spPr>
          <a:xfrm>
            <a:off x="3675888" y="296265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"조달 3.5일 지연 예상, 안전재고 15% 상향 권장"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54496" y="1463040"/>
            <a:ext cx="2743200" cy="301752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1463040"/>
            <a:ext cx="27432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6364224" y="1490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3단계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64224" y="17373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하이브리드 승인 분기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91656" y="2267712"/>
            <a:ext cx="118872" cy="11887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6574536" y="22128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일상 발주 → AUTO_APPROVED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91656" y="3017520"/>
            <a:ext cx="118872" cy="11887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Text 27"/>
          <p:cNvSpPr/>
          <p:nvPr/>
        </p:nvSpPr>
        <p:spPr>
          <a:xfrm>
            <a:off x="6574536" y="296265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위험 발주 → PENDING 강제 전환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91656" y="3767328"/>
            <a:ext cx="118872" cy="11887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Text 29"/>
          <p:cNvSpPr/>
          <p:nvPr/>
        </p:nvSpPr>
        <p:spPr>
          <a:xfrm>
            <a:off x="6574536" y="371246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담당자 반려 사유 자가 학습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69848" y="3090672"/>
            <a:ext cx="5943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1499616" y="297180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▶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968496" y="3090672"/>
            <a:ext cx="59436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/>
          <p:nvPr/>
        </p:nvSpPr>
        <p:spPr>
          <a:xfrm>
            <a:off x="4398264" y="297180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▶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</a:rPr>
              <a:t>기술 아키텍처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확장성과 안정성 보장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5204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Transaction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8DC4"/>
                </a:solidFill>
              </a:rPr>
              <a:t>Java Spring Boot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109728" cy="109728"/>
          </a:xfrm>
          <a:prstGeom prst="ellipse">
            <a:avLst/>
          </a:prstGeom>
          <a:solidFill>
            <a:srgbClr val="8B8DC4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30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엔터프라이즈 데이터 파이프라인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109728" cy="109728"/>
          </a:xfrm>
          <a:prstGeom prst="ellipse">
            <a:avLst/>
          </a:prstGeom>
          <a:solidFill>
            <a:srgbClr val="8B8DC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5694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Spring Security + JWT + RBAC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109728" cy="109728"/>
          </a:xfrm>
          <a:prstGeom prst="ellipse">
            <a:avLst/>
          </a:prstGeom>
          <a:solidFill>
            <a:srgbClr val="8B8DC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08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PostgreSQL: 단일 진실 공급원 (SSOT)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93008"/>
            <a:ext cx="109728" cy="109728"/>
          </a:xfrm>
          <a:prstGeom prst="ellipse">
            <a:avLst/>
          </a:prstGeom>
          <a:solidFill>
            <a:srgbClr val="8B8DC4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472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Flyway DB 버전 관리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09728" cy="109728"/>
          </a:xfrm>
          <a:prstGeom prst="ellipse">
            <a:avLst/>
          </a:prstGeom>
          <a:solidFill>
            <a:srgbClr val="8B8DC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886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배치 상태 관리 (트랜잭션 롤백)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023360" cy="3520440"/>
          </a:xfrm>
          <a:prstGeom prst="rect">
            <a:avLst/>
          </a:prstGeom>
          <a:solidFill>
            <a:srgbClr val="111D36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Inference &amp; Agent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C4"/>
                </a:solidFill>
              </a:rPr>
              <a:t>Python FastAPI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176272"/>
            <a:ext cx="109728" cy="109728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2130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TFT 딥러닝 수요 예측 엔진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615184"/>
            <a:ext cx="109728" cy="109728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25694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Multi-Agent 발주 시스템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054096"/>
            <a:ext cx="109728" cy="109728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3008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Gemini LLM 리스크 판단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493008"/>
            <a:ext cx="109728" cy="109728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34472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SQLite: 격리된 로컬 엣지 연산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931920"/>
            <a:ext cx="109728" cy="109728"/>
          </a:xfrm>
          <a:prstGeom prst="ellipse">
            <a:avLst/>
          </a:prstGeom>
          <a:solidFill>
            <a:srgbClr val="2EC4C4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3886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8"/>
                </a:solidFill>
              </a:rPr>
              <a:t>Scipy/Numpy 수치 최적화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60520" y="2331720"/>
            <a:ext cx="457200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4" name="Text 32"/>
          <p:cNvSpPr/>
          <p:nvPr/>
        </p:nvSpPr>
        <p:spPr>
          <a:xfrm>
            <a:off x="4142232" y="221284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EA6"/>
                </a:solidFill>
              </a:rPr>
              <a:t>⟷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114800" y="25420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5EA6"/>
                </a:solidFill>
              </a:rPr>
              <a:t>Cost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B5EA6"/>
                </a:solidFill>
              </a:rPr>
              <a:t>Opt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프로토타입 구현도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DC4"/>
                </a:solidFill>
              </a:rPr>
              <a:t>E2E 프로세스 플로우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533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다중 시트 엑셀 무인 자동 적재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801368"/>
            <a:ext cx="0" cy="192024"/>
          </a:xfrm>
          <a:prstGeom prst="line">
            <a:avLst/>
          </a:prstGeom>
          <a:noFill/>
          <a:ln w="19050">
            <a:solidFill>
              <a:srgbClr val="5B5E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391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가상 태풍 주입 → 외부 API 리스크 스코어 급상승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487168"/>
            <a:ext cx="0" cy="192024"/>
          </a:xfrm>
          <a:prstGeom prst="line">
            <a:avLst/>
          </a:prstGeom>
          <a:noFill/>
          <a:ln w="19050">
            <a:solidFill>
              <a:srgbClr val="2EC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solidFill>
            <a:srgbClr val="8B8DC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딥러닝 예측 변동 → 수리 필터로 강제 제어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172968"/>
            <a:ext cx="0" cy="192024"/>
          </a:xfrm>
          <a:prstGeom prst="line">
            <a:avLst/>
          </a:prstGeom>
          <a:noFill/>
          <a:ln w="19050">
            <a:solidFill>
              <a:srgbClr val="8B8D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4107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예산 초과 감지 시 PENDING 강제 전환 + LLM 위험 진단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188720"/>
            <a:ext cx="2926080" cy="3566160"/>
          </a:xfrm>
          <a:prstGeom prst="rect">
            <a:avLst/>
          </a:prstGeom>
          <a:solidFill>
            <a:srgbClr val="111D3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188720"/>
            <a:ext cx="2926080" cy="41148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216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엔터프라이즈급 검증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4C4"/>
                </a:solidFill>
              </a:rPr>
              <a:t>299개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03504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통합 테스트 스위트 통과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7706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4C4"/>
                </a:solidFill>
              </a:rPr>
              <a:t>84.5%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035040" y="32552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코드 커버리지 달성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7581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4C4"/>
                </a:solidFill>
              </a:rPr>
              <a:t>100%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035040" y="42428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멱등성 보장 (서킷 브레이커)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</a:rPr>
              <a:t>비즈니스 임팩트 및 확장성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20116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20%↑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재고 보유 비용 감축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서비스 수준 95% 유지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914400"/>
            <a:ext cx="2743200" cy="201168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005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55848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품절 빈도 통제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효과적 재고 관리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914400"/>
            <a:ext cx="2743200" cy="20116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005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74%↓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254496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비용 절감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수학적 가드레일 필터링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</a:rPr>
              <a:t>확장성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11880"/>
            <a:ext cx="2743200" cy="118872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758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 B2B SaaS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67588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SCM 클라우드 SaaS 모델 전환 가능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55848" y="3611880"/>
            <a:ext cx="2743200" cy="118872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36758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 중소·중견 기업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58768" y="367588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낮은 진입 장벽으로 즉각 도입 가능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54496" y="3611880"/>
            <a:ext cx="2743200" cy="118872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36758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 Multi-tenant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57416" y="367588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아키텍처 확장 준비 완료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결론 및 요약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8046720" cy="777240"/>
          </a:xfrm>
          <a:prstGeom prst="rect">
            <a:avLst/>
          </a:prstGeom>
          <a:solidFill>
            <a:srgbClr val="0D1B33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78992"/>
            <a:ext cx="64008" cy="77724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EA6"/>
                </a:solidFill>
              </a:rPr>
              <a:t>비정형 업무 파편화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엑셀 수기 + 경험 의존 의사결정 → AI 기반 자동화 + 수리적 최적화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8046720" cy="777240"/>
          </a:xfrm>
          <a:prstGeom prst="rect">
            <a:avLst/>
          </a:prstGeom>
          <a:solidFill>
            <a:srgbClr val="0D1B33"/>
          </a:solidFill>
          <a:ln w="12700">
            <a:solidFill>
              <a:srgbClr val="2EC4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84832"/>
            <a:ext cx="64008" cy="777240"/>
          </a:xfrm>
          <a:prstGeom prst="rect">
            <a:avLst/>
          </a:prstGeom>
          <a:solidFill>
            <a:srgbClr val="2EC4C4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기술 차별점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3957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 판단 위임 → 오류 및 환각 리스크 → 판단 지원 XAI + 환각 차단 수리 필터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8046720" cy="777240"/>
          </a:xfrm>
          <a:prstGeom prst="rect">
            <a:avLst/>
          </a:prstGeom>
          <a:solidFill>
            <a:srgbClr val="0D1B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90672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구현 완성도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4015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개념 수준 프로토타입 → 299개 테스트 · 84.5% 커버리지 · E2E 실증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"산업 현장의 비정형 업무를 AI가 이해·표준화·자동화하여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생산성과 의사결정 속도를 극대화하는 운영 지능화 플랫폼"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C4"/>
                </a:solidFill>
              </a:rPr>
              <a:t>APPENDIX: 구현 증빙 자료 (Implementation Evidence)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※ 심사위원 검증용: 실제 구동되는 299개의 테스트 코드와 마이크로서비스 간의 로그 정합성 증명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017520"/>
          </a:xfrm>
          <a:prstGeom prst="rect">
            <a:avLst/>
          </a:prstGeom>
          <a:solidFill>
            <a:srgbClr val="111D36"/>
          </a:solidFill>
          <a:ln w="25400">
            <a:solidFill>
              <a:srgbClr val="2EC4C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[캡처 1: Pytest 실행 결과]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터미널에 초록색으로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"299 passed" 글씨가 보이는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전체 화면 캡처 삽입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560320" cy="3017520"/>
          </a:xfrm>
          <a:prstGeom prst="rect">
            <a:avLst/>
          </a:prstGeom>
          <a:solidFill>
            <a:srgbClr val="111D36"/>
          </a:solidFill>
          <a:ln w="25400">
            <a:solidFill>
              <a:srgbClr val="2EC4C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337560" y="1371600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[캡처 2: Docker Compose]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백엔드, AI서버, DB 컨테이너가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"Up" 상태인 터미널 캡처 삽입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2560320" cy="3017520"/>
          </a:xfrm>
          <a:prstGeom prst="rect">
            <a:avLst/>
          </a:prstGeom>
          <a:solidFill>
            <a:srgbClr val="111D36"/>
          </a:solidFill>
          <a:ln w="25400">
            <a:solidFill>
              <a:srgbClr val="2EC4C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217920" y="1371600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[캡처 3: Data Agent 로그]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더러운 엑셀 파일이 파싱되어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C4"/>
                </a:solidFill>
              </a:rPr>
              <a:t>JSON으로 변환되는 로그 캡처 삽입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8DC4"/>
                </a:solidFill>
              </a:rPr>
              <a:t>🔗 GitHub Repo: github.com/realseok79/SCM_agent_system (코드 원본 및 README.md 구조 참조)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SCM 운영 지능화 플랫폼 최종</dc:title>
  <dc:subject>PptxGenJS Presentation</dc:subject>
  <dc:creator>PptxGenJS</dc:creator>
  <cp:lastModifiedBy>PptxGenJS</cp:lastModifiedBy>
  <cp:revision>1</cp:revision>
  <dcterms:created xsi:type="dcterms:W3CDTF">2026-05-22T16:35:31Z</dcterms:created>
  <dcterms:modified xsi:type="dcterms:W3CDTF">2026-05-22T16:35:31Z</dcterms:modified>
</cp:coreProperties>
</file>